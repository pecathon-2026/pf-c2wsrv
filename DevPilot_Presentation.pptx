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32520" y="502920"/>
            <a:ext cx="118872" cy="1143000"/>
          </a:xfrm>
          <a:prstGeom prst="rect">
            <a:avLst/>
          </a:prstGeom>
          <a:solidFill>
            <a:srgbClr val="DC3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25128" y="502920"/>
            <a:ext cx="118872" cy="1143000"/>
          </a:xfrm>
          <a:prstGeom prst="rect">
            <a:avLst/>
          </a:prstGeom>
          <a:solidFill>
            <a:srgbClr val="F2B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17736" y="502920"/>
            <a:ext cx="118872" cy="1143000"/>
          </a:xfrm>
          <a:prstGeom prst="rect">
            <a:avLst/>
          </a:prstGeom>
          <a:solidFill>
            <a:srgbClr val="42C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10344" y="502920"/>
            <a:ext cx="118872" cy="1143000"/>
          </a:xfrm>
          <a:prstGeom prst="rect">
            <a:avLst/>
          </a:prstGeom>
          <a:solidFill>
            <a:srgbClr val="A17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658368"/>
            <a:ext cx="1143000" cy="292608"/>
          </a:xfrm>
          <a:prstGeom prst="roundRect">
            <a:avLst/>
          </a:prstGeom>
          <a:solidFill>
            <a:srgbClr val="231F18"/>
          </a:solidFill>
          <a:ln w="12700">
            <a:solidFill>
              <a:srgbClr val="F2B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681228"/>
            <a:ext cx="996696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spcAft>
                <a:spcPts val="0"/>
              </a:spcAft>
            </a:pPr>
            <a:r>
              <a:rPr sz="900" b="1">
                <a:solidFill>
                  <a:srgbClr val="F2BE43"/>
                </a:solidFill>
                <a:latin typeface="Aptos"/>
              </a:rPr>
              <a:t>PROJECT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298448"/>
            <a:ext cx="6035040" cy="960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4600" b="1">
                <a:solidFill>
                  <a:srgbClr val="F2F5FA"/>
                </a:solidFill>
                <a:latin typeface="Aptos Display"/>
              </a:rPr>
              <a:t>DevPilot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331720"/>
            <a:ext cx="5943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900" b="1">
                <a:solidFill>
                  <a:srgbClr val="F2BE43"/>
                </a:solidFill>
                <a:latin typeface="Aptos"/>
              </a:rPr>
              <a:t>The Mystic Mikado’s Autonomous AI Engineering Guild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063240"/>
            <a:ext cx="539496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100" b="1">
                <a:solidFill>
                  <a:srgbClr val="F2F5FA"/>
                </a:solidFill>
                <a:latin typeface="Aptos Display"/>
              </a:rPr>
              <a:t>Plan like a Shogun.
Build like a Samurai.
Test like a Sentinel.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34840"/>
            <a:ext cx="530352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A4AEBF"/>
                </a:solidFill>
                <a:latin typeface="Aptos"/>
              </a:rPr>
              <a:t>An event-driven multi-agent workspace that turns natural-language software requests into planned, implemented, tested and reviewed changes.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325880"/>
            <a:ext cx="5074920" cy="4343400"/>
          </a:xfrm>
          <a:prstGeom prst="roundRect">
            <a:avLst/>
          </a:prstGeom>
          <a:solidFill>
            <a:srgbClr val="0F1119"/>
          </a:solidFill>
          <a:ln w="12700">
            <a:solidFill>
              <a:srgbClr val="37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1444752"/>
            <a:ext cx="4855464" cy="30358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20840" y="4681728"/>
            <a:ext cx="45720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42C9DC"/>
                </a:solidFill>
                <a:latin typeface="Aptos"/>
              </a:rPr>
              <a:t>MISSION CONTROL  •  RUN LOG  •  EVIDENCE  • 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6291072"/>
            <a:ext cx="6400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900" b="1">
                <a:solidFill>
                  <a:srgbClr val="A4AEBF"/>
                </a:solidFill>
                <a:latin typeface="Aptos"/>
              </a:rPr>
              <a:t>DEVPILOT  |  SOFTWARE ENGINEERING, WITH HUMAN OVERSIGHT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510528"/>
            <a:ext cx="5029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4AEBF"/>
                </a:solidFill>
                <a:latin typeface="Aptos"/>
              </a:rPr>
              <a:t>01/08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8229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F2BE43"/>
                </a:solidFill>
                <a:latin typeface="Aptos"/>
              </a:rPr>
              <a:t>01 — 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>
                <a:solidFill>
                  <a:srgbClr val="F2F5FA"/>
                </a:solidFill>
                <a:latin typeface="Aptos Display"/>
              </a:rPr>
              <a:t>From vague request to verified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43584"/>
            <a:ext cx="107899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A4AEBF"/>
                </a:solidFill>
                <a:latin typeface="Aptos"/>
              </a:rPr>
              <a:t>Software changes need more than code generation: they need context, coordination, testing and accountable decisions.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029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4AEBF"/>
                </a:solidFill>
                <a:latin typeface="Aptos"/>
              </a:rPr>
              <a:t>02/08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5303520" cy="361188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46634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EB7384"/>
                </a:solidFill>
                <a:latin typeface="Aptos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51760"/>
            <a:ext cx="4572000" cy="23317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F2F5FA"/>
                </a:solidFill>
                <a:latin typeface="Aptos"/>
              </a:rPr>
              <a:t>A developer request often starts as plain language—but delivering it safely requires a chain of work:
• Understand the intent and acceptance criteria
• Find the right files and project conventions
• Implement without breaking existing behaviour
• Run checks, investigate failures and review risks
• Decide when to proceed, retry or ask a human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74519"/>
            <a:ext cx="5303520" cy="3611880"/>
          </a:xfrm>
          <a:prstGeom prst="roundRect">
            <a:avLst/>
          </a:prstGeom>
          <a:solidFill>
            <a:srgbClr val="121B22"/>
          </a:solidFill>
          <a:ln w="12700">
            <a:solidFill>
              <a:srgbClr val="42C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148840"/>
            <a:ext cx="46634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42C9DC"/>
                </a:solidFill>
                <a:latin typeface="Aptos"/>
              </a:rPr>
              <a:t>THE DEVPILOT 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651760"/>
            <a:ext cx="4572000" cy="2286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0">
                <a:solidFill>
                  <a:srgbClr val="F2F5FA"/>
                </a:solidFill>
                <a:latin typeface="Aptos"/>
              </a:rPr>
              <a:t>DevPilot organizes the work as a coordinated engineering mission.
A planning agent decomposes the request; specialist agents build, test and review; a shared mission state carries findings between them; and a human approval gate keeps consequential actions under control.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983480"/>
            <a:ext cx="1920240" cy="292608"/>
          </a:xfrm>
          <a:prstGeom prst="roundRect">
            <a:avLst/>
          </a:prstGeom>
          <a:solidFill>
            <a:srgbClr val="231F18"/>
          </a:solidFill>
          <a:ln w="12700">
            <a:solidFill>
              <a:srgbClr val="F2B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5006340"/>
            <a:ext cx="1773936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spcAft>
                <a:spcPts val="0"/>
              </a:spcAft>
            </a:pPr>
            <a:r>
              <a:rPr sz="900" b="1">
                <a:solidFill>
                  <a:srgbClr val="F2BE43"/>
                </a:solidFill>
                <a:latin typeface="Aptos"/>
              </a:rPr>
              <a:t>COORDINATED AGENTS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80" y="4983480"/>
            <a:ext cx="1600200" cy="292608"/>
          </a:xfrm>
          <a:prstGeom prst="roundRect">
            <a:avLst/>
          </a:prstGeom>
          <a:solidFill>
            <a:srgbClr val="231F18"/>
          </a:solidFill>
          <a:ln w="12700">
            <a:solidFill>
              <a:srgbClr val="4DC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99232" y="5006340"/>
            <a:ext cx="1453896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spcAft>
                <a:spcPts val="0"/>
              </a:spcAft>
            </a:pPr>
            <a:r>
              <a:rPr sz="900" b="1">
                <a:solidFill>
                  <a:srgbClr val="4DCA8F"/>
                </a:solidFill>
                <a:latin typeface="Aptos"/>
              </a:rPr>
              <a:t>REAL EVIDENCE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60" y="4983480"/>
            <a:ext cx="1920240" cy="292608"/>
          </a:xfrm>
          <a:prstGeom prst="roundRect">
            <a:avLst/>
          </a:prstGeom>
          <a:solidFill>
            <a:srgbClr val="231F18"/>
          </a:solidFill>
          <a:ln w="12700">
            <a:solidFill>
              <a:srgbClr val="42C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11112" y="5006340"/>
            <a:ext cx="1773936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spcAft>
                <a:spcPts val="0"/>
              </a:spcAft>
            </a:pPr>
            <a:r>
              <a:rPr sz="900" b="1">
                <a:solidFill>
                  <a:srgbClr val="42C9DC"/>
                </a:solidFill>
                <a:latin typeface="Aptos"/>
              </a:rPr>
              <a:t>BOUNDED AUTONOMY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8229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F2BE43"/>
                </a:solidFill>
                <a:latin typeface="Aptos"/>
              </a:rPr>
              <a:t>02 — PRODUCT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>
                <a:solidFill>
                  <a:srgbClr val="F2F5FA"/>
                </a:solidFill>
                <a:latin typeface="Aptos Display"/>
              </a:rPr>
              <a:t>One mission. A visible engineering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43584"/>
            <a:ext cx="107899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A4AEBF"/>
                </a:solidFill>
                <a:latin typeface="Aptos"/>
              </a:rPr>
              <a:t>The interface is organized around four views that make progress and decisions inspectable.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029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4AEBF"/>
                </a:solidFill>
                <a:latin typeface="Aptos"/>
              </a:rPr>
              <a:t>03/08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2606040" cy="192024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F2B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176272"/>
            <a:ext cx="548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000" b="1">
                <a:solidFill>
                  <a:srgbClr val="F2BE43"/>
                </a:solidFill>
                <a:latin typeface="Aptos Display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651760"/>
            <a:ext cx="2240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F2F5FA"/>
                </a:solidFill>
                <a:latin typeface="Aptos"/>
              </a:rPr>
              <a:t>MISSION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063240"/>
            <a:ext cx="224028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A4AEBF"/>
                </a:solidFill>
                <a:latin typeface="Aptos"/>
              </a:rPr>
              <a:t>Choose a scenario, write a natural-language decree and launch the guild.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39" y="1965960"/>
            <a:ext cx="2606040" cy="192024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42C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2176272"/>
            <a:ext cx="548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000" b="1">
                <a:solidFill>
                  <a:srgbClr val="42C9DC"/>
                </a:solidFill>
                <a:latin typeface="Aptos Display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651760"/>
            <a:ext cx="2240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F2F5FA"/>
                </a:solidFill>
                <a:latin typeface="Aptos"/>
              </a:rPr>
              <a:t>LIVE RUN 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063240"/>
            <a:ext cx="224028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A4AEBF"/>
                </a:solidFill>
                <a:latin typeface="Aptos"/>
              </a:rPr>
              <a:t>Follow agent messages, tool calls, task updates and mission events as they happen.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965960"/>
            <a:ext cx="2606040" cy="192024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4DC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176272"/>
            <a:ext cx="548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000" b="1">
                <a:solidFill>
                  <a:srgbClr val="4DCA8F"/>
                </a:solidFill>
                <a:latin typeface="Aptos Display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651760"/>
            <a:ext cx="2240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F2F5FA"/>
                </a:solidFill>
                <a:latin typeface="Aptos"/>
              </a:rPr>
              <a:t>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063240"/>
            <a:ext cx="224028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A4AEBF"/>
                </a:solidFill>
                <a:latin typeface="Aptos"/>
              </a:rPr>
              <a:t>Inspect file edits, test outcomes, verification criteria and review findings.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81159" y="1965960"/>
            <a:ext cx="2606040" cy="192024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A17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64039" y="2176272"/>
            <a:ext cx="548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000" b="1">
                <a:solidFill>
                  <a:srgbClr val="A17DEE"/>
                </a:solidFill>
                <a:latin typeface="Aptos Display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39" y="2651760"/>
            <a:ext cx="2240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F2F5FA"/>
                </a:solidFill>
                <a:latin typeface="Aptos"/>
              </a:rPr>
              <a:t>ARCHITECTURE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4039" y="3063240"/>
            <a:ext cx="224028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A4AEBF"/>
                </a:solidFill>
                <a:latin typeface="Aptos"/>
              </a:rPr>
              <a:t>Understand agent responsibilities, shared state, tools and safety boundaries.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251960"/>
            <a:ext cx="10927080" cy="1572768"/>
          </a:xfrm>
          <a:prstGeom prst="roundRect">
            <a:avLst/>
          </a:prstGeom>
          <a:solidFill>
            <a:srgbClr val="0F1119"/>
          </a:solidFill>
          <a:ln w="12700">
            <a:solidFill>
              <a:srgbClr val="37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370832"/>
            <a:ext cx="4160520" cy="134416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212080" y="4526280"/>
            <a:ext cx="58521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F2F5FA"/>
                </a:solidFill>
                <a:latin typeface="Aptos Display"/>
              </a:rPr>
              <a:t>A command center, not a chat window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0368" y="5010912"/>
            <a:ext cx="580644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A4AEBF"/>
                </a:solidFill>
                <a:latin typeface="Aptos"/>
              </a:rPr>
              <a:t>Mission status, task board, shared state, agent activity and mission history stay in view—while deeper logs and evidence remain one click away.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8229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F2BE43"/>
                </a:solidFill>
                <a:latin typeface="Aptos"/>
              </a:rPr>
              <a:t>03 — THE GUILD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>
                <a:solidFill>
                  <a:srgbClr val="F2F5FA"/>
                </a:solidFill>
                <a:latin typeface="Aptos Display"/>
              </a:rPr>
              <a:t>Specialists collaborate through shared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43584"/>
            <a:ext cx="107899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A4AEBF"/>
                </a:solidFill>
                <a:latin typeface="Aptos"/>
              </a:rPr>
              <a:t>Five roles divide the engineering mission; their findings influence the next action rather than running as isolated personas.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029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4AEBF"/>
                </a:solidFill>
                <a:latin typeface="Aptos"/>
              </a:rPr>
              <a:t>04/08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3154680" cy="160020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F2B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039112"/>
            <a:ext cx="2743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F2BE43"/>
                </a:solidFill>
                <a:latin typeface="Aptos"/>
              </a:rPr>
              <a:t>SHOGUN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359152"/>
            <a:ext cx="2743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F2F5FA"/>
                </a:solidFill>
                <a:latin typeface="Aptos"/>
              </a:rPr>
              <a:t>Planner &amp; orchestrator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697479"/>
            <a:ext cx="274320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A4AEBF"/>
                </a:solidFill>
                <a:latin typeface="Aptos"/>
              </a:rPr>
              <a:t>Turns the request into objectives, acceptance criteria and a task graph; replans when blockers appear.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74519"/>
            <a:ext cx="3154680" cy="160020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EB73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039112"/>
            <a:ext cx="2743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EB7384"/>
                </a:solidFill>
                <a:latin typeface="Aptos"/>
              </a:rPr>
              <a:t>SAMURAI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359152"/>
            <a:ext cx="2743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F2F5FA"/>
                </a:solidFill>
                <a:latin typeface="Aptos"/>
              </a:rPr>
              <a:t>Developer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697479"/>
            <a:ext cx="274320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A4AEBF"/>
                </a:solidFill>
                <a:latin typeface="Aptos"/>
              </a:rPr>
              <a:t>Inspects the repository, selects tools and implements context-aware code changes.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1874519"/>
            <a:ext cx="3154680" cy="160020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4DC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59" y="2039112"/>
            <a:ext cx="2743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4DCA8F"/>
                </a:solidFill>
                <a:latin typeface="Aptos"/>
              </a:rPr>
              <a:t>SENTINEL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59" y="2359152"/>
            <a:ext cx="2743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F2F5FA"/>
                </a:solidFill>
                <a:latin typeface="Aptos"/>
              </a:rPr>
              <a:t>Tester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59" y="2697479"/>
            <a:ext cx="274320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A4AEBF"/>
                </a:solidFill>
                <a:latin typeface="Aptos"/>
              </a:rPr>
              <a:t>Runs tests, diagnoses failures and sends actionable evidence back to the developer.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60320" y="3977639"/>
            <a:ext cx="3154680" cy="160020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42C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0" y="4142231"/>
            <a:ext cx="2743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42C9DC"/>
                </a:solidFill>
                <a:latin typeface="Aptos"/>
              </a:rPr>
              <a:t>APOSTLE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462272"/>
            <a:ext cx="2743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F2F5FA"/>
                </a:solidFill>
                <a:latin typeface="Aptos"/>
              </a:rPr>
              <a:t>Independent verifier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800600"/>
            <a:ext cx="274320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A4AEBF"/>
                </a:solidFill>
                <a:latin typeface="Aptos"/>
              </a:rPr>
              <a:t>Checks acceptance criteria separately and records pass/fail evidence.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3977639"/>
            <a:ext cx="3154680" cy="160020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A17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4142231"/>
            <a:ext cx="2743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A17DEE"/>
                </a:solidFill>
                <a:latin typeface="Aptos"/>
              </a:rPr>
              <a:t>SHADOW COUNCIL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4462272"/>
            <a:ext cx="2743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F2F5FA"/>
                </a:solidFill>
                <a:latin typeface="Aptos"/>
              </a:rPr>
              <a:t>Review &amp; security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4800600"/>
            <a:ext cx="274320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A4AEBF"/>
                </a:solidFill>
                <a:latin typeface="Aptos"/>
              </a:rPr>
              <a:t>Reviews correctness, consistency and security risks; challenges changes before approval.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5989320"/>
            <a:ext cx="5669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2BE43"/>
                </a:solidFill>
                <a:latin typeface="Aptos"/>
              </a:rPr>
              <a:t>SHARED MISSION STATE  •  TASKS  •  FINDINGS  •  DECISIONS  •  OPEN ISSUES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8229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F2BE43"/>
                </a:solidFill>
                <a:latin typeface="Aptos"/>
              </a:rPr>
              <a:t>04 — 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>
                <a:solidFill>
                  <a:srgbClr val="F2F5FA"/>
                </a:solidFill>
                <a:latin typeface="Aptos Display"/>
              </a:rPr>
              <a:t>Event-driven orchestration with a shared blackboard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43584"/>
            <a:ext cx="107899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A4AEBF"/>
                </a:solidFill>
                <a:latin typeface="Aptos"/>
              </a:rPr>
              <a:t>Agents read and write mission state; new evidence can change the plan, trigger a retry or request clarification.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029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4AEBF"/>
                </a:solidFill>
                <a:latin typeface="Aptos"/>
              </a:rPr>
              <a:t>05/08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6629400" cy="416052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34440" y="2148840"/>
            <a:ext cx="5440680" cy="438912"/>
          </a:xfrm>
          <a:prstGeom prst="roundRect">
            <a:avLst/>
          </a:prstGeom>
          <a:solidFill>
            <a:srgbClr val="1D222F"/>
          </a:solidFill>
          <a:ln w="12700">
            <a:solidFill>
              <a:srgbClr val="F2B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2221992"/>
            <a:ext cx="5074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2BE43"/>
                </a:solidFill>
                <a:latin typeface="Aptos"/>
              </a:rPr>
              <a:t>USER REQUEST + REPOSITORY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606040"/>
            <a:ext cx="731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A4AEBF"/>
                </a:solidFill>
                <a:latin typeface="Aptos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34440" y="2898648"/>
            <a:ext cx="5440680" cy="438912"/>
          </a:xfrm>
          <a:prstGeom prst="roundRect">
            <a:avLst/>
          </a:prstGeom>
          <a:solidFill>
            <a:srgbClr val="1D222F"/>
          </a:solidFill>
          <a:ln w="12700">
            <a:solidFill>
              <a:srgbClr val="F2B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2971800"/>
            <a:ext cx="5074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2BE43"/>
                </a:solidFill>
                <a:latin typeface="Aptos"/>
              </a:rPr>
              <a:t>SHOGUN  |  PLAN &amp; DELEGATE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355848"/>
            <a:ext cx="731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A4AEBF"/>
                </a:solidFill>
                <a:latin typeface="Aptos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34440" y="3648456"/>
            <a:ext cx="5440680" cy="438912"/>
          </a:xfrm>
          <a:prstGeom prst="roundRect">
            <a:avLst/>
          </a:prstGeom>
          <a:solidFill>
            <a:srgbClr val="1D222F"/>
          </a:solidFill>
          <a:ln w="12700">
            <a:solidFill>
              <a:srgbClr val="42C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3721607"/>
            <a:ext cx="5074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42C9DC"/>
                </a:solidFill>
                <a:latin typeface="Aptos"/>
              </a:rPr>
              <a:t>SPECIALISTS  |  BUILD • TEST • VERIFY •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4105656"/>
            <a:ext cx="731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A4AEBF"/>
                </a:solidFill>
                <a:latin typeface="Aptos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34440" y="4398264"/>
            <a:ext cx="5440680" cy="438912"/>
          </a:xfrm>
          <a:prstGeom prst="roundRect">
            <a:avLst/>
          </a:prstGeom>
          <a:solidFill>
            <a:srgbClr val="1D222F"/>
          </a:solidFill>
          <a:ln w="12700">
            <a:solidFill>
              <a:srgbClr val="A17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4471416"/>
            <a:ext cx="5074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A17DEE"/>
                </a:solidFill>
                <a:latin typeface="Aptos"/>
              </a:rPr>
              <a:t>SHARED MISSION STATE  |  EVENTS &amp; FINDINGS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855464"/>
            <a:ext cx="731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A4AEBF"/>
                </a:solidFill>
                <a:latin typeface="Aptos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34440" y="5148072"/>
            <a:ext cx="5440680" cy="438912"/>
          </a:xfrm>
          <a:prstGeom prst="roundRect">
            <a:avLst/>
          </a:prstGeom>
          <a:solidFill>
            <a:srgbClr val="1D222F"/>
          </a:solidFill>
          <a:ln w="12700">
            <a:solidFill>
              <a:srgbClr val="EB73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17320" y="5221224"/>
            <a:ext cx="5074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EB7384"/>
                </a:solidFill>
                <a:latin typeface="Aptos"/>
              </a:rPr>
              <a:t>HUMAN APPROVAL / ESCALATION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43800" y="1874519"/>
            <a:ext cx="3977639" cy="416052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374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18120" y="2148840"/>
            <a:ext cx="33832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42C9DC"/>
                </a:solidFill>
                <a:latin typeface="Aptos"/>
              </a:rPr>
              <a:t>SUPPORTED TOOL SET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45552" y="2670048"/>
            <a:ext cx="1554480" cy="292608"/>
          </a:xfrm>
          <a:prstGeom prst="roundRect">
            <a:avLst/>
          </a:prstGeom>
          <a:solidFill>
            <a:srgbClr val="231F18"/>
          </a:solidFill>
          <a:ln w="12700">
            <a:solidFill>
              <a:srgbClr val="42C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18704" y="2692908"/>
            <a:ext cx="1408176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spcAft>
                <a:spcPts val="0"/>
              </a:spcAft>
            </a:pPr>
            <a:r>
              <a:rPr sz="900" b="1">
                <a:solidFill>
                  <a:srgbClr val="42C9DC"/>
                </a:solidFill>
                <a:latin typeface="Aptos"/>
              </a:rPr>
              <a:t>read_file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45552" y="3054096"/>
            <a:ext cx="1554480" cy="292608"/>
          </a:xfrm>
          <a:prstGeom prst="roundRect">
            <a:avLst/>
          </a:prstGeom>
          <a:solidFill>
            <a:srgbClr val="231F18"/>
          </a:solidFill>
          <a:ln w="12700">
            <a:solidFill>
              <a:srgbClr val="42C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18704" y="3076956"/>
            <a:ext cx="1408176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spcAft>
                <a:spcPts val="0"/>
              </a:spcAft>
            </a:pPr>
            <a:r>
              <a:rPr sz="900" b="1">
                <a:solidFill>
                  <a:srgbClr val="42C9DC"/>
                </a:solidFill>
                <a:latin typeface="Aptos"/>
              </a:rPr>
              <a:t>search_repo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45552" y="3438144"/>
            <a:ext cx="1554480" cy="292608"/>
          </a:xfrm>
          <a:prstGeom prst="roundRect">
            <a:avLst/>
          </a:prstGeom>
          <a:solidFill>
            <a:srgbClr val="231F18"/>
          </a:solidFill>
          <a:ln w="12700">
            <a:solidFill>
              <a:srgbClr val="42C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18704" y="3461003"/>
            <a:ext cx="1408176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spcAft>
                <a:spcPts val="0"/>
              </a:spcAft>
            </a:pPr>
            <a:r>
              <a:rPr sz="900" b="1">
                <a:solidFill>
                  <a:srgbClr val="42C9DC"/>
                </a:solidFill>
                <a:latin typeface="Aptos"/>
              </a:rPr>
              <a:t>edit_file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45552" y="3822191"/>
            <a:ext cx="1554480" cy="292608"/>
          </a:xfrm>
          <a:prstGeom prst="roundRect">
            <a:avLst/>
          </a:prstGeom>
          <a:solidFill>
            <a:srgbClr val="231F18"/>
          </a:solidFill>
          <a:ln w="12700">
            <a:solidFill>
              <a:srgbClr val="42C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18704" y="3845052"/>
            <a:ext cx="1408176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spcAft>
                <a:spcPts val="0"/>
              </a:spcAft>
            </a:pPr>
            <a:r>
              <a:rPr sz="900" b="1">
                <a:solidFill>
                  <a:srgbClr val="42C9DC"/>
                </a:solidFill>
                <a:latin typeface="Aptos"/>
              </a:rPr>
              <a:t>write_file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45552" y="4206240"/>
            <a:ext cx="1554480" cy="292608"/>
          </a:xfrm>
          <a:prstGeom prst="roundRect">
            <a:avLst/>
          </a:prstGeom>
          <a:solidFill>
            <a:srgbClr val="231F18"/>
          </a:solidFill>
          <a:ln w="12700">
            <a:solidFill>
              <a:srgbClr val="42C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18704" y="4229100"/>
            <a:ext cx="1408176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spcAft>
                <a:spcPts val="0"/>
              </a:spcAft>
            </a:pPr>
            <a:r>
              <a:rPr sz="900" b="1">
                <a:solidFill>
                  <a:srgbClr val="42C9DC"/>
                </a:solidFill>
                <a:latin typeface="Aptos"/>
              </a:rPr>
              <a:t>run_tests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45552" y="4590288"/>
            <a:ext cx="1554480" cy="292608"/>
          </a:xfrm>
          <a:prstGeom prst="roundRect">
            <a:avLst/>
          </a:prstGeom>
          <a:solidFill>
            <a:srgbClr val="231F18"/>
          </a:solidFill>
          <a:ln w="12700">
            <a:solidFill>
              <a:srgbClr val="42C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18704" y="4613148"/>
            <a:ext cx="1408176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spcAft>
                <a:spcPts val="0"/>
              </a:spcAft>
            </a:pPr>
            <a:r>
              <a:rPr sz="900" b="1">
                <a:solidFill>
                  <a:srgbClr val="42C9DC"/>
                </a:solidFill>
                <a:latin typeface="Aptos"/>
              </a:rPr>
              <a:t>security_scan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5480" y="2697480"/>
            <a:ext cx="1508760" cy="2011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A4AEBF"/>
                </a:solidFill>
                <a:latin typeface="Aptos"/>
              </a:rPr>
              <a:t>Repo-scoped operations
Tool results are added to the event stream and made visible in the UI.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45552" y="5138928"/>
            <a:ext cx="324612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F2F5FA"/>
                </a:solidFill>
                <a:latin typeface="Aptos"/>
              </a:rPr>
              <a:t>Boundary: no writes outside the mission repository; destructive operations and network calls are blocked in the described tool layer.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8229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F2BE43"/>
                </a:solidFill>
                <a:latin typeface="Aptos"/>
              </a:rPr>
              <a:t>05 — TRUST &amp;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>
                <a:solidFill>
                  <a:srgbClr val="F2F5FA"/>
                </a:solidFill>
                <a:latin typeface="Aptos Display"/>
              </a:rPr>
              <a:t>Autonomy with explicit 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43584"/>
            <a:ext cx="107899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A4AEBF"/>
                </a:solidFill>
                <a:latin typeface="Aptos"/>
              </a:rPr>
              <a:t>The system is designed to make its work inspectable and to stop when confidence or permission is insufficient.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029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4AEBF"/>
                </a:solidFill>
                <a:latin typeface="Aptos"/>
              </a:rPr>
              <a:t>06/08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10744200" cy="621792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42C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38528"/>
            <a:ext cx="2514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42C9DC"/>
                </a:solidFill>
                <a:latin typeface="Aptos"/>
              </a:rPr>
              <a:t>REPOSITORY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938528"/>
            <a:ext cx="74523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F2F5FA"/>
                </a:solidFill>
                <a:latin typeface="Aptos"/>
              </a:rPr>
              <a:t>File and command operations are restricted to the mission repository.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33472"/>
            <a:ext cx="10744200" cy="621792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EB73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743200"/>
            <a:ext cx="2514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EB7384"/>
                </a:solidFill>
                <a:latin typeface="Aptos"/>
              </a:rPr>
              <a:t>DESTRUCTIVE ACTION BLOCKS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743200"/>
            <a:ext cx="74523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F2F5FA"/>
                </a:solidFill>
                <a:latin typeface="Aptos"/>
              </a:rPr>
              <a:t>Dangerous operations (such as recursive deletion) are blocked.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38144"/>
            <a:ext cx="10744200" cy="621792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F2B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547872"/>
            <a:ext cx="2514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F2BE43"/>
                </a:solidFill>
                <a:latin typeface="Aptos"/>
              </a:rPr>
              <a:t>HUMAN APPROVAL 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547872"/>
            <a:ext cx="74523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F2F5FA"/>
                </a:solidFill>
                <a:latin typeface="Aptos"/>
              </a:rPr>
              <a:t>Consequential changes pause for a human decision before proceeding.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42816"/>
            <a:ext cx="10744200" cy="621792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A17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352544"/>
            <a:ext cx="2514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A17DEE"/>
                </a:solidFill>
                <a:latin typeface="Aptos"/>
              </a:rPr>
              <a:t>BOUNDED RETRIES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352544"/>
            <a:ext cx="74523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F2F5FA"/>
                </a:solidFill>
                <a:latin typeface="Aptos"/>
              </a:rPr>
              <a:t>A rejection allows one revision retry; repeated failure escalates instead of looping forever.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047488"/>
            <a:ext cx="10744200" cy="621792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4DC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157216"/>
            <a:ext cx="2514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4DCA8F"/>
                </a:solidFill>
                <a:latin typeface="Aptos"/>
              </a:rPr>
              <a:t>EVIDENCE-BASED COMPLETION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5157216"/>
            <a:ext cx="74523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F2F5FA"/>
                </a:solidFill>
                <a:latin typeface="Aptos"/>
              </a:rPr>
              <a:t>A mission is not declared successful solely from an agent's claim—tests and verification are recorded.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989320"/>
            <a:ext cx="10241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2BE43"/>
                </a:solidFill>
                <a:latin typeface="Aptos"/>
              </a:rPr>
              <a:t>DESIGN PRINCIPLE: THE HUMAN REMAINS THE FINAL AUTHORITY FOR CONSEQUENTIAL DECISIONS.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8229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F2BE43"/>
                </a:solidFill>
                <a:latin typeface="Aptos"/>
              </a:rPr>
              <a:t>06 — DEMONSTRATION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>
                <a:solidFill>
                  <a:srgbClr val="F2F5FA"/>
                </a:solidFill>
                <a:latin typeface="Aptos Display"/>
              </a:rPr>
              <a:t>Five scenarios show how the guild adapts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43584"/>
            <a:ext cx="107899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A4AEBF"/>
                </a:solidFill>
                <a:latin typeface="Aptos"/>
              </a:rPr>
              <a:t>Scenario-based missions exercise implementation, recovery, security review and clarification—not just happy-path code generation.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029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4AEBF"/>
                </a:solidFill>
                <a:latin typeface="Aptos"/>
              </a:rPr>
              <a:t>07/08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74519"/>
            <a:ext cx="3474720" cy="123444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F2B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029967"/>
            <a:ext cx="31089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F2BE43"/>
                </a:solidFill>
                <a:latin typeface="Aptos"/>
              </a:rPr>
              <a:t>FEATURE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377439"/>
            <a:ext cx="31089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F2F5FA"/>
                </a:solidFill>
                <a:latin typeface="Aptos"/>
              </a:rPr>
              <a:t>Add validation while preserving existing behaviour.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874519"/>
            <a:ext cx="3474720" cy="123444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EB73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029967"/>
            <a:ext cx="31089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EB7384"/>
                </a:solidFill>
                <a:latin typeface="Aptos"/>
              </a:rPr>
              <a:t>BUG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377439"/>
            <a:ext cx="31089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F2F5FA"/>
                </a:solidFill>
                <a:latin typeface="Aptos"/>
              </a:rPr>
              <a:t>Reproduce a defect, create a regression check and fix the cause.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74519"/>
            <a:ext cx="3474720" cy="123444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4DC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2029967"/>
            <a:ext cx="31089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4DCA8F"/>
                </a:solidFill>
                <a:latin typeface="Aptos"/>
              </a:rPr>
              <a:t>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2377439"/>
            <a:ext cx="31089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F2F5FA"/>
                </a:solidFill>
                <a:latin typeface="Aptos"/>
              </a:rPr>
              <a:t>Investigate a failing test suite and iterate toward green.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447287"/>
            <a:ext cx="3474720" cy="123444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A17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3602735"/>
            <a:ext cx="31089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A17DEE"/>
                </a:solidFill>
                <a:latin typeface="Aptos"/>
              </a:rPr>
              <a:t>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3950207"/>
            <a:ext cx="31089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F2F5FA"/>
                </a:solidFill>
                <a:latin typeface="Aptos"/>
              </a:rPr>
              <a:t>Detect and remediate a planted credential before release.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59" y="3447287"/>
            <a:ext cx="3474720" cy="123444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42C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3602735"/>
            <a:ext cx="31089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42C9DC"/>
                </a:solidFill>
                <a:latin typeface="Aptos"/>
              </a:rPr>
              <a:t>AMBIGUITY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950207"/>
            <a:ext cx="31089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F2F5FA"/>
                </a:solidFill>
                <a:latin typeface="Aptos"/>
              </a:rPr>
              <a:t>Pause on a vague request and ask the human to clarify.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230368"/>
            <a:ext cx="10927080" cy="713232"/>
          </a:xfrm>
          <a:prstGeom prst="roundRect">
            <a:avLst/>
          </a:prstGeom>
          <a:solidFill>
            <a:srgbClr val="131B22"/>
          </a:solidFill>
          <a:ln w="12700">
            <a:solidFill>
              <a:srgbClr val="4DC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404104"/>
            <a:ext cx="10515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4DCA8F"/>
                </a:solidFill>
                <a:latin typeface="Aptos"/>
              </a:rPr>
              <a:t>FAILURE / REVIEW FINDING  →  SHARED STATE UPDATE  →  REPLAN OR REVISE  →  RERUN CHECKS  →  VERIFY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8229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F2BE43"/>
                </a:solidFill>
                <a:latin typeface="Aptos"/>
              </a:rPr>
              <a:t>07 — 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>
                <a:solidFill>
                  <a:srgbClr val="F2F5FA"/>
                </a:solidFill>
                <a:latin typeface="Aptos Display"/>
              </a:rPr>
              <a:t>A transparent engineering guild—not a black 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43584"/>
            <a:ext cx="107899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A4AEBF"/>
                </a:solidFill>
                <a:latin typeface="Aptos"/>
              </a:rPr>
              <a:t>DevPilot brings planning, implementation, feedback and human control into one visible mission.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029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4AEBF"/>
                </a:solidFill>
                <a:latin typeface="Aptos"/>
              </a:rPr>
              <a:t>08/08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5257800" cy="3611880"/>
          </a:xfrm>
          <a:prstGeom prst="roundRect">
            <a:avLst/>
          </a:prstGeom>
          <a:solidFill>
            <a:srgbClr val="141823"/>
          </a:solidFill>
          <a:ln w="12700">
            <a:solidFill>
              <a:srgbClr val="F2B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4572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F2BE43"/>
                </a:solidFill>
                <a:latin typeface="Aptos"/>
              </a:rPr>
              <a:t>LIVE DEMO WALKTHROUGH</a:t>
            </a:r>
          </a:p>
        </p:txBody>
      </p:sp>
      <p:sp>
        <p:nvSpPr>
          <p:cNvPr id="9" name="Oval 8"/>
          <p:cNvSpPr/>
          <p:nvPr/>
        </p:nvSpPr>
        <p:spPr>
          <a:xfrm>
            <a:off x="1005840" y="2779776"/>
            <a:ext cx="82296" cy="82296"/>
          </a:xfrm>
          <a:prstGeom prst="ellipse">
            <a:avLst/>
          </a:prstGeom>
          <a:solidFill>
            <a:srgbClr val="F2B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697480"/>
            <a:ext cx="43434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F2F5FA"/>
                </a:solidFill>
                <a:latin typeface="Aptos"/>
              </a:rPr>
              <a:t>1. Select Test-Driven Recovery or Custom Mission.</a:t>
            </a:r>
          </a:p>
        </p:txBody>
      </p:sp>
      <p:sp>
        <p:nvSpPr>
          <p:cNvPr id="11" name="Oval 10"/>
          <p:cNvSpPr/>
          <p:nvPr/>
        </p:nvSpPr>
        <p:spPr>
          <a:xfrm>
            <a:off x="1005840" y="3255264"/>
            <a:ext cx="82296" cy="82296"/>
          </a:xfrm>
          <a:prstGeom prst="ellipse">
            <a:avLst/>
          </a:prstGeom>
          <a:solidFill>
            <a:srgbClr val="F2B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172968"/>
            <a:ext cx="43434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F2F5FA"/>
                </a:solidFill>
                <a:latin typeface="Aptos"/>
              </a:rPr>
              <a:t>2. Enter a plain-language engineering request.</a:t>
            </a:r>
          </a:p>
        </p:txBody>
      </p:sp>
      <p:sp>
        <p:nvSpPr>
          <p:cNvPr id="13" name="Oval 12"/>
          <p:cNvSpPr/>
          <p:nvPr/>
        </p:nvSpPr>
        <p:spPr>
          <a:xfrm>
            <a:off x="1005840" y="3730752"/>
            <a:ext cx="82296" cy="82296"/>
          </a:xfrm>
          <a:prstGeom prst="ellipse">
            <a:avLst/>
          </a:prstGeom>
          <a:solidFill>
            <a:srgbClr val="F2B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648456"/>
            <a:ext cx="43434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F2F5FA"/>
                </a:solidFill>
                <a:latin typeface="Aptos"/>
              </a:rPr>
              <a:t>3. Watch agent activity, task state and tool events.</a:t>
            </a:r>
          </a:p>
        </p:txBody>
      </p:sp>
      <p:sp>
        <p:nvSpPr>
          <p:cNvPr id="15" name="Oval 14"/>
          <p:cNvSpPr/>
          <p:nvPr/>
        </p:nvSpPr>
        <p:spPr>
          <a:xfrm>
            <a:off x="1005840" y="4206240"/>
            <a:ext cx="82296" cy="82296"/>
          </a:xfrm>
          <a:prstGeom prst="ellipse">
            <a:avLst/>
          </a:prstGeom>
          <a:solidFill>
            <a:srgbClr val="F2B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123944"/>
            <a:ext cx="43434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F2F5FA"/>
                </a:solidFill>
                <a:latin typeface="Aptos"/>
              </a:rPr>
              <a:t>4. Inspect file edits, test results and independent verification.</a:t>
            </a:r>
          </a:p>
        </p:txBody>
      </p:sp>
      <p:sp>
        <p:nvSpPr>
          <p:cNvPr id="17" name="Oval 16"/>
          <p:cNvSpPr/>
          <p:nvPr/>
        </p:nvSpPr>
        <p:spPr>
          <a:xfrm>
            <a:off x="1005840" y="4681728"/>
            <a:ext cx="82296" cy="82296"/>
          </a:xfrm>
          <a:prstGeom prst="ellipse">
            <a:avLst/>
          </a:prstGeom>
          <a:solidFill>
            <a:srgbClr val="F2B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599432"/>
            <a:ext cx="43434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F2F5FA"/>
                </a:solidFill>
                <a:latin typeface="Aptos"/>
              </a:rPr>
              <a:t>5. Review the proposed outcome and make the approval decision.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874519"/>
            <a:ext cx="5257800" cy="3611880"/>
          </a:xfrm>
          <a:prstGeom prst="roundRect">
            <a:avLst/>
          </a:prstGeom>
          <a:solidFill>
            <a:srgbClr val="111B22"/>
          </a:solidFill>
          <a:ln w="12700">
            <a:solidFill>
              <a:srgbClr val="42C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148840"/>
            <a:ext cx="4572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42C9DC"/>
                </a:solidFill>
                <a:latin typeface="Aptos"/>
              </a:rPr>
              <a:t>WHAT DEVPILOT DEMONSTRATES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651760"/>
            <a:ext cx="4526280" cy="2011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F2F5FA"/>
                </a:solidFill>
                <a:latin typeface="Aptos"/>
              </a:rPr>
              <a:t>• Multi-agent task coordination
• Context-aware repository work
• Test and review feedback loops
• Independent acceptance checks
• Human oversight and bounded autonomy
• Inspectable mission history and 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806440"/>
            <a:ext cx="106070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2BE43"/>
                </a:solidFill>
                <a:latin typeface="Aptos Display"/>
              </a:rPr>
              <a:t>DEVPILOT  |  PLAN. BUILD. TEST. REVIEW. ADAPT.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510528"/>
            <a:ext cx="5029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4AEBF"/>
                </a:solidFill>
                <a:latin typeface="Aptos"/>
              </a:rPr>
              <a:t>08/08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DevPilot — The Mystic Mikado’s Autonomous AI Engineering Guild</dc:title>
  <dc:subject>8-slide project presentation</dc:subject>
  <dc:creator>DevPilot</dc:creator>
  <cp:keywords>DevPilot, multi-agent AI, software engineering, mission control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